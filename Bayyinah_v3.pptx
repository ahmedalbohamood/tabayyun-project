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676" r:id="rId2"/>
  </p:sldMasterIdLst>
  <p:notesMasterIdLst>
    <p:notesMasterId r:id="rId10"/>
  </p:notesMasterIdLst>
  <p:sldIdLst>
    <p:sldId id="261" r:id="rId3"/>
    <p:sldId id="256" r:id="rId4"/>
    <p:sldId id="257" r:id="rId5"/>
    <p:sldId id="258" r:id="rId6"/>
    <p:sldId id="260" r:id="rId7"/>
    <p:sldId id="259" r:id="rId8"/>
    <p:sldId id="267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327"/>
    <a:srgbClr val="233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324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5115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3419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690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07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283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669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872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754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5221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33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2493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982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94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6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14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18.png"/><Relationship Id="rId5" Type="http://schemas.openxmlformats.org/officeDocument/2006/relationships/image" Target="../media/image13.svg"/><Relationship Id="rId10" Type="http://schemas.openxmlformats.org/officeDocument/2006/relationships/image" Target="../media/image1.pn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2E7D32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4CAF50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D32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BC34A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701533" y="854121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Tabayun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645920" y="1554480"/>
            <a:ext cx="2348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Corruption Report Analysis &amp; Prioritization System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5029200" cy="0"/>
          </a:xfrm>
          <a:prstGeom prst="line">
            <a:avLst/>
          </a:prstGeom>
          <a:noFill/>
          <a:ln w="1905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"Empowering employees through intelligent report analysis"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futureMaker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7D3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720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Raghad Alharbi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68880" y="365760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7D3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246888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Albohamood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80560" y="365760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7D3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8056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Ghada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160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7D3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5720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Alshamsan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468880" y="4160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7D3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46888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Salsabil Alawi</a:t>
            </a:r>
            <a:endParaRPr lang="en-US" sz="1200" dirty="0"/>
          </a:p>
        </p:txBody>
      </p:sp>
      <p:pic>
        <p:nvPicPr>
          <p:cNvPr id="24" name="Picture 23" descr="شعار أبيض بخلفية شفافة">
            <a:extLst>
              <a:ext uri="{FF2B5EF4-FFF2-40B4-BE49-F238E27FC236}">
                <a16:creationId xmlns:a16="http://schemas.microsoft.com/office/drawing/2014/main" id="{10A7133E-F21D-6F3F-22E9-2F7EEB104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52" y="-139567"/>
            <a:ext cx="1479885" cy="2219827"/>
          </a:xfrm>
          <a:prstGeom prst="rect">
            <a:avLst/>
          </a:prstGeom>
        </p:spPr>
      </p:pic>
      <p:pic>
        <p:nvPicPr>
          <p:cNvPr id="25" name="Picture 24" descr="شعار نزاهة بخلفية شفافة">
            <a:extLst>
              <a:ext uri="{FF2B5EF4-FFF2-40B4-BE49-F238E27FC236}">
                <a16:creationId xmlns:a16="http://schemas.microsoft.com/office/drawing/2014/main" id="{8CCE1EB9-62C9-05A0-7CE0-A4A5813B3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591" y="14559"/>
            <a:ext cx="2219465" cy="14796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3B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7724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43891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 — and who suffers from it?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65760" y="804672"/>
            <a:ext cx="2651760" cy="3840480"/>
          </a:xfrm>
          <a:prstGeom prst="roundRect">
            <a:avLst>
              <a:gd name="adj" fmla="val 4828"/>
            </a:avLst>
          </a:prstGeom>
          <a:solidFill>
            <a:srgbClr val="0D3B17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914400"/>
            <a:ext cx="1645920" cy="1645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2606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3800" dirty="0"/>
          </a:p>
        </p:txBody>
      </p:sp>
      <p:sp>
        <p:nvSpPr>
          <p:cNvPr id="10" name="Text 5"/>
          <p:cNvSpPr/>
          <p:nvPr/>
        </p:nvSpPr>
        <p:spPr>
          <a:xfrm>
            <a:off x="365760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reports arrive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at Nazaha</a:t>
            </a:r>
            <a:endParaRPr lang="en-US" b="1" dirty="0"/>
          </a:p>
        </p:txBody>
      </p:sp>
      <p:sp>
        <p:nvSpPr>
          <p:cNvPr id="11" name="Text 6"/>
          <p:cNvSpPr/>
          <p:nvPr/>
        </p:nvSpPr>
        <p:spPr>
          <a:xfrm>
            <a:off x="365760" y="3931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A8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 manually</a:t>
            </a:r>
            <a:r>
              <a:rPr lang="en-US" sz="1100" i="1" dirty="0">
                <a:solidFill>
                  <a:srgbClr val="A8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46120" y="822960"/>
            <a:ext cx="5532120" cy="1115568"/>
          </a:xfrm>
          <a:prstGeom prst="roundRect">
            <a:avLst>
              <a:gd name="adj" fmla="val 8197"/>
            </a:avLst>
          </a:prstGeom>
          <a:solidFill>
            <a:srgbClr val="2E7D3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4992" y="1097280"/>
            <a:ext cx="530352" cy="5303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05072" y="914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005072" y="12618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drown in manual reviews. Critical corruption cases sit buried in queues alongside spam and incomplete submissions.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46120" y="2084832"/>
            <a:ext cx="5532120" cy="1115568"/>
          </a:xfrm>
          <a:prstGeom prst="roundRect">
            <a:avLst>
              <a:gd name="adj" fmla="val 8197"/>
            </a:avLst>
          </a:prstGeom>
          <a:solidFill>
            <a:srgbClr val="1A5C2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4992" y="2359152"/>
            <a:ext cx="530352" cy="5303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005072" y="21762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of Waste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005072" y="252374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spend hours on low-quality reports — falsified claims, missing evidence, duplicate submissions — before finding a case worth investigating</a:t>
            </a: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3246120" y="3346704"/>
            <a:ext cx="5532120" cy="1115568"/>
          </a:xfrm>
          <a:prstGeom prst="roundRect">
            <a:avLst>
              <a:gd name="adj" fmla="val 8197"/>
            </a:avLst>
          </a:prstGeom>
          <a:solidFill>
            <a:srgbClr val="2E7D3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4992" y="3621024"/>
            <a:ext cx="530352" cy="5303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005072" y="34381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Cost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005072" y="378561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delayed high-priority report means corruption continues unchecked, public money is lost, and accountability gaps widen.</a:t>
            </a:r>
            <a:endParaRPr lang="en-US" sz="1200" dirty="0"/>
          </a:p>
        </p:txBody>
      </p:sp>
      <p:pic>
        <p:nvPicPr>
          <p:cNvPr id="29" name="Picture 28" descr="شعار أبيض بخلفية شفافة">
            <a:extLst>
              <a:ext uri="{FF2B5EF4-FFF2-40B4-BE49-F238E27FC236}">
                <a16:creationId xmlns:a16="http://schemas.microsoft.com/office/drawing/2014/main" id="{AB266DA0-180E-69FC-CB96-4C4C82BD79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7" y="-108217"/>
            <a:ext cx="620785" cy="9311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3B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7724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43891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this problem — and why it matters now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65760" y="80467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C8A84B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502920" y="80467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400" b="1" i="1" dirty="0">
                <a:solidFill>
                  <a:srgbClr val="0D3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 every report deserves the same attention. </a:t>
            </a:r>
            <a:r>
              <a:rPr lang="en-GB" sz="1400" b="1" i="1" dirty="0" err="1">
                <a:solidFill>
                  <a:srgbClr val="0D3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Tabayun</a:t>
            </a:r>
            <a:r>
              <a:rPr lang="en-GB" sz="1400" b="1" i="1" dirty="0">
                <a:solidFill>
                  <a:srgbClr val="0D3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helps identify the reports that matter most”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65760" y="1828800"/>
            <a:ext cx="4069080" cy="1298448"/>
          </a:xfrm>
          <a:prstGeom prst="roundRect">
            <a:avLst>
              <a:gd name="adj" fmla="val 8451"/>
            </a:avLst>
          </a:prstGeom>
          <a:solidFill>
            <a:srgbClr val="193D2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352" y="2176272"/>
            <a:ext cx="566928" cy="5669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19385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Nazaha's Mission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234440" y="2331720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handles thousands of sensitive anti-corruption reports. Efficiency is directly tied to national integrity.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17720" y="1828800"/>
            <a:ext cx="4069080" cy="1298448"/>
          </a:xfrm>
          <a:prstGeom prst="roundRect">
            <a:avLst>
              <a:gd name="adj" fmla="val 8451"/>
            </a:avLst>
          </a:prstGeom>
          <a:solidFill>
            <a:srgbClr val="193D2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2312" y="2176272"/>
            <a:ext cx="566928" cy="5669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0" y="19385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Ready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486400" y="2331720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can understand Arabic text, extract entities, score credibility — capabilities that didn't exist a few years ago.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65760" y="3291840"/>
            <a:ext cx="4069080" cy="1298448"/>
          </a:xfrm>
          <a:prstGeom prst="roundRect">
            <a:avLst>
              <a:gd name="adj" fmla="val 8451"/>
            </a:avLst>
          </a:prstGeom>
          <a:solidFill>
            <a:srgbClr val="193D2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352" y="3639312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40156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Urgency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234440" y="3794760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cases are time-sensitive. Every day a critical report waits, damage continues. Manual triage is not scalable.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17720" y="3291840"/>
            <a:ext cx="4069080" cy="1298448"/>
          </a:xfrm>
          <a:prstGeom prst="roundRect">
            <a:avLst>
              <a:gd name="adj" fmla="val 8451"/>
            </a:avLst>
          </a:prstGeom>
          <a:solidFill>
            <a:srgbClr val="193D2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2312" y="3639312"/>
            <a:ext cx="566928" cy="56692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0" y="340156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2030 Alignment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5486400" y="3794760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reform agenda requires transparent, accountable, and tech-forward government institutions.</a:t>
            </a:r>
            <a:endParaRPr lang="en-US" sz="1200" dirty="0"/>
          </a:p>
        </p:txBody>
      </p:sp>
      <p:pic>
        <p:nvPicPr>
          <p:cNvPr id="32" name="Picture 31" descr="شعار أبيض بخلفية شفافة">
            <a:extLst>
              <a:ext uri="{FF2B5EF4-FFF2-40B4-BE49-F238E27FC236}">
                <a16:creationId xmlns:a16="http://schemas.microsoft.com/office/drawing/2014/main" id="{E9A7B6A1-4830-8142-C68B-228143B82F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" y="-68580"/>
            <a:ext cx="57912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3B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7724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43891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Bayyinah works — technology, AI integration &amp; pipeline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63009" y="877824"/>
            <a:ext cx="1499616" cy="2331720"/>
          </a:xfrm>
          <a:prstGeom prst="roundRect">
            <a:avLst>
              <a:gd name="adj" fmla="val 7317"/>
            </a:avLst>
          </a:prstGeom>
          <a:solidFill>
            <a:srgbClr val="2E7D3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4"/>
          <p:cNvSpPr/>
          <p:nvPr/>
        </p:nvSpPr>
        <p:spPr>
          <a:xfrm>
            <a:off x="1075073" y="969264"/>
            <a:ext cx="475488" cy="475488"/>
          </a:xfrm>
          <a:prstGeom prst="ellipse">
            <a:avLst/>
          </a:prstGeom>
          <a:solidFill>
            <a:srgbClr val="8BC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1075073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921" y="1536192"/>
            <a:ext cx="621792" cy="6217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6161" y="224942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08729" y="27066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text + attachments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062625" y="1655064"/>
            <a:ext cx="91440" cy="0"/>
          </a:xfrm>
          <a:prstGeom prst="line">
            <a:avLst/>
          </a:prstGeom>
          <a:noFill/>
          <a:ln w="254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2154065" y="877824"/>
            <a:ext cx="1499616" cy="2331720"/>
          </a:xfrm>
          <a:prstGeom prst="roundRect">
            <a:avLst>
              <a:gd name="adj" fmla="val 7317"/>
            </a:avLst>
          </a:prstGeom>
          <a:solidFill>
            <a:srgbClr val="1A5C2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2666129" y="969264"/>
            <a:ext cx="475488" cy="475488"/>
          </a:xfrm>
          <a:prstGeom prst="ellipse">
            <a:avLst/>
          </a:prstGeom>
          <a:solidFill>
            <a:srgbClr val="8BC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2666129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227217" y="224942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2199785" y="27066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processes full report content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653681" y="1655064"/>
            <a:ext cx="91440" cy="0"/>
          </a:xfrm>
          <a:prstGeom prst="line">
            <a:avLst/>
          </a:prstGeom>
          <a:noFill/>
          <a:ln w="254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1"/>
          <p:cNvSpPr/>
          <p:nvPr/>
        </p:nvSpPr>
        <p:spPr>
          <a:xfrm>
            <a:off x="3723395" y="877824"/>
            <a:ext cx="1499616" cy="2331720"/>
          </a:xfrm>
          <a:prstGeom prst="roundRect">
            <a:avLst>
              <a:gd name="adj" fmla="val 7317"/>
            </a:avLst>
          </a:prstGeom>
          <a:solidFill>
            <a:srgbClr val="1A5C2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4235459" y="969264"/>
            <a:ext cx="475488" cy="475488"/>
          </a:xfrm>
          <a:prstGeom prst="ellipse">
            <a:avLst/>
          </a:prstGeom>
          <a:solidFill>
            <a:srgbClr val="8BC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3"/>
          <p:cNvSpPr/>
          <p:nvPr/>
        </p:nvSpPr>
        <p:spPr>
          <a:xfrm>
            <a:off x="4235459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17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6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2307" y="1536192"/>
            <a:ext cx="621792" cy="6217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96547" y="224942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3769115" y="27066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details, completeness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5223011" y="1677289"/>
            <a:ext cx="91440" cy="0"/>
          </a:xfrm>
          <a:prstGeom prst="line">
            <a:avLst/>
          </a:prstGeom>
          <a:noFill/>
          <a:ln w="254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5314451" y="877824"/>
            <a:ext cx="1499616" cy="2331720"/>
          </a:xfrm>
          <a:prstGeom prst="roundRect">
            <a:avLst>
              <a:gd name="adj" fmla="val 7317"/>
            </a:avLst>
          </a:prstGeom>
          <a:solidFill>
            <a:srgbClr val="2E7D3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5826515" y="969264"/>
            <a:ext cx="475488" cy="475488"/>
          </a:xfrm>
          <a:prstGeom prst="ellipse">
            <a:avLst/>
          </a:prstGeom>
          <a:solidFill>
            <a:srgbClr val="8BC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29"/>
          <p:cNvSpPr/>
          <p:nvPr/>
        </p:nvSpPr>
        <p:spPr>
          <a:xfrm>
            <a:off x="5826515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17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6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3363" y="1536192"/>
            <a:ext cx="621792" cy="62179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387603" y="224942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5360171" y="27066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queue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3657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365760" y="3767328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3E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3858768"/>
            <a:ext cx="457200" cy="4572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87552" y="38039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987552" y="40782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2560320" y="3767328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3E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51760" y="3858768"/>
            <a:ext cx="457200" cy="4572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3182112" y="38039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3182112" y="40782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PostgreSQL, Rag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4754880" y="3767328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3E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6320" y="3858768"/>
            <a:ext cx="457200" cy="45720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5376672" y="38039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5376672" y="40782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Named Entity Recognition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6949440" y="3767328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3E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0880" y="3858768"/>
            <a:ext cx="457200" cy="45720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7571232" y="38039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57" name="Text 44"/>
          <p:cNvSpPr/>
          <p:nvPr/>
        </p:nvSpPr>
        <p:spPr>
          <a:xfrm>
            <a:off x="7571232" y="40782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</a:t>
            </a:r>
            <a:endParaRPr lang="en-US" sz="900" dirty="0"/>
          </a:p>
        </p:txBody>
      </p:sp>
      <p:pic>
        <p:nvPicPr>
          <p:cNvPr id="65" name="Picture 64" descr="شعار أبيض بخلفية شفافة">
            <a:extLst>
              <a:ext uri="{FF2B5EF4-FFF2-40B4-BE49-F238E27FC236}">
                <a16:creationId xmlns:a16="http://schemas.microsoft.com/office/drawing/2014/main" id="{269B4C8B-8214-AD07-6649-3B38AA344F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4" y="-84702"/>
            <a:ext cx="592916" cy="797934"/>
          </a:xfrm>
          <a:prstGeom prst="rect">
            <a:avLst/>
          </a:prstGeom>
        </p:spPr>
      </p:pic>
      <p:pic>
        <p:nvPicPr>
          <p:cNvPr id="71" name="Image 2" descr="preencoded.png">
            <a:extLst>
              <a:ext uri="{FF2B5EF4-FFF2-40B4-BE49-F238E27FC236}">
                <a16:creationId xmlns:a16="http://schemas.microsoft.com/office/drawing/2014/main" id="{0096D3CB-CE51-9D63-B350-255EE8F90C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19825" y="1554480"/>
            <a:ext cx="731520" cy="731520"/>
          </a:xfrm>
          <a:prstGeom prst="rect">
            <a:avLst/>
          </a:prstGeom>
        </p:spPr>
      </p:pic>
      <p:sp>
        <p:nvSpPr>
          <p:cNvPr id="73" name="Shape 21">
            <a:extLst>
              <a:ext uri="{FF2B5EF4-FFF2-40B4-BE49-F238E27FC236}">
                <a16:creationId xmlns:a16="http://schemas.microsoft.com/office/drawing/2014/main" id="{8E6B108D-F666-CB6C-3430-4A79C482CB66}"/>
              </a:ext>
            </a:extLst>
          </p:cNvPr>
          <p:cNvSpPr/>
          <p:nvPr/>
        </p:nvSpPr>
        <p:spPr>
          <a:xfrm>
            <a:off x="6887219" y="877824"/>
            <a:ext cx="1499616" cy="2331720"/>
          </a:xfrm>
          <a:prstGeom prst="roundRect">
            <a:avLst>
              <a:gd name="adj" fmla="val 7317"/>
            </a:avLst>
          </a:prstGeom>
          <a:solidFill>
            <a:srgbClr val="1A5C2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5" name="Shape 22">
            <a:extLst>
              <a:ext uri="{FF2B5EF4-FFF2-40B4-BE49-F238E27FC236}">
                <a16:creationId xmlns:a16="http://schemas.microsoft.com/office/drawing/2014/main" id="{9567C374-4F52-FC9F-A641-07760E297E69}"/>
              </a:ext>
            </a:extLst>
          </p:cNvPr>
          <p:cNvSpPr/>
          <p:nvPr/>
        </p:nvSpPr>
        <p:spPr>
          <a:xfrm>
            <a:off x="7399283" y="969264"/>
            <a:ext cx="475488" cy="475488"/>
          </a:xfrm>
          <a:prstGeom prst="ellipse">
            <a:avLst/>
          </a:prstGeom>
          <a:solidFill>
            <a:srgbClr val="8BC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F4B9C086-246B-AD93-72CA-D3CA51276860}"/>
              </a:ext>
            </a:extLst>
          </p:cNvPr>
          <p:cNvSpPr/>
          <p:nvPr/>
        </p:nvSpPr>
        <p:spPr>
          <a:xfrm>
            <a:off x="7399283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17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1600" dirty="0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A540329A-1548-FADE-7773-C0023E49448E}"/>
              </a:ext>
            </a:extLst>
          </p:cNvPr>
          <p:cNvSpPr/>
          <p:nvPr/>
        </p:nvSpPr>
        <p:spPr>
          <a:xfrm>
            <a:off x="6960371" y="224942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811B6A4F-49F6-05E8-3A17-0532B995307D}"/>
              </a:ext>
            </a:extLst>
          </p:cNvPr>
          <p:cNvSpPr/>
          <p:nvPr/>
        </p:nvSpPr>
        <p:spPr>
          <a:xfrm>
            <a:off x="6932939" y="27066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B8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category assigned</a:t>
            </a:r>
            <a:endParaRPr lang="en-US" sz="85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3402284E-2812-D189-4ECD-703E322B4675}"/>
              </a:ext>
            </a:extLst>
          </p:cNvPr>
          <p:cNvSpPr/>
          <p:nvPr/>
        </p:nvSpPr>
        <p:spPr>
          <a:xfrm flipV="1">
            <a:off x="6814067" y="1655064"/>
            <a:ext cx="73152" cy="0"/>
          </a:xfrm>
          <a:prstGeom prst="line">
            <a:avLst/>
          </a:prstGeom>
          <a:noFill/>
          <a:ln w="254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7" name="Image 4" descr="preencoded.png">
            <a:extLst>
              <a:ext uri="{FF2B5EF4-FFF2-40B4-BE49-F238E27FC236}">
                <a16:creationId xmlns:a16="http://schemas.microsoft.com/office/drawing/2014/main" id="{3EFC7D87-6FB3-EFFD-3BEC-A5ECD465AB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5595" y="1609344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3B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7724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43891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build next — scaling Bayyinah into a real product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65760" y="82296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1A5C2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563443" y="890397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AI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1261872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1225295"/>
            <a:ext cx="7406640" cy="761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Duplicate &amp; cross-report correlation to detect coordinated fraud patterns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Document authenticity verification (PDF/image forgery detection)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65760" y="214884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2E7D32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6" name="Text 11"/>
          <p:cNvSpPr/>
          <p:nvPr/>
        </p:nvSpPr>
        <p:spPr>
          <a:xfrm>
            <a:off x="563443" y="224256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Insights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88" y="2587752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551176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Trend dashboards showing corruption hotspots by sector and region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Integration with Nazaha's existing case management systems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347472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0D3B17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475488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3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566056" y="35158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Scale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488" y="3913632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3877056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Deploy </a:t>
            </a:r>
            <a:r>
              <a:rPr lang="en-US" sz="10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Tabayyun</a:t>
            </a: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multiple government entities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Feedback loop: investigator outcomes retrain the AI model</a:t>
            </a:r>
            <a:endParaRPr lang="en-US" sz="1000" dirty="0"/>
          </a:p>
        </p:txBody>
      </p:sp>
      <p:pic>
        <p:nvPicPr>
          <p:cNvPr id="41" name="Picture 40" descr="شعار أبيض بخلفية شفافة">
            <a:extLst>
              <a:ext uri="{FF2B5EF4-FFF2-40B4-BE49-F238E27FC236}">
                <a16:creationId xmlns:a16="http://schemas.microsoft.com/office/drawing/2014/main" id="{500EE068-62AB-26E7-C9AA-2EB67C5A1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055" y="-102990"/>
            <a:ext cx="580724" cy="8710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3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3B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7724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Investigator Dashboard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43891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 · Key features · AI capabilities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65760" y="82296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C8A8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768" y="859536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" y="822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29767" y="1280159"/>
            <a:ext cx="8024513" cy="3563547"/>
          </a:xfrm>
          <a:prstGeom prst="roundRect">
            <a:avLst>
              <a:gd name="adj" fmla="val 10976"/>
            </a:avLst>
          </a:prstGeom>
          <a:solidFill>
            <a:srgbClr val="1A5C2A"/>
          </a:solidFill>
          <a:ln/>
          <a:effectLst>
            <a:outerShdw blurRad="1270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6" name="Picture 75" descr="شعار أبيض بخلفية شفافة">
            <a:extLst>
              <a:ext uri="{FF2B5EF4-FFF2-40B4-BE49-F238E27FC236}">
                <a16:creationId xmlns:a16="http://schemas.microsoft.com/office/drawing/2014/main" id="{B21E7D29-800F-FAAB-C1DB-1429C3886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" y="-90477"/>
            <a:ext cx="550244" cy="825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D32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A5C2A">
              <a:alpha val="2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D32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8BC3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19050">
            <a:solidFill>
              <a:srgbClr val="8BC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defTabSz="914400"/>
            <a:r>
              <a:rPr lang="en-US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Tabayun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B8D4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"From Reports to Evidence-Driven Decisions"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شعار أبيض بخلفية شفافة">
            <a:extLst>
              <a:ext uri="{FF2B5EF4-FFF2-40B4-BE49-F238E27FC236}">
                <a16:creationId xmlns:a16="http://schemas.microsoft.com/office/drawing/2014/main" id="{49DF9000-CABA-5EB6-FBEA-D2720E201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-137161"/>
            <a:ext cx="1493521" cy="22402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368</TotalTime>
  <Words>436</Words>
  <Application>Microsoft Office PowerPoint</Application>
  <PresentationFormat>On-screen Show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Cambria</vt:lpstr>
      <vt:lpstr>Office 2013 - 2022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Bayyinah – Hackathon Presentation</dc:title>
  <dc:subject>PptxGenJS Presentation</dc:subject>
  <dc:creator>PptxGenJS</dc:creator>
  <cp:lastModifiedBy>ahmed AL Bohamood</cp:lastModifiedBy>
  <cp:revision>4</cp:revision>
  <dcterms:created xsi:type="dcterms:W3CDTF">2026-06-15T07:21:58Z</dcterms:created>
  <dcterms:modified xsi:type="dcterms:W3CDTF">2026-06-15T14:08:30Z</dcterms:modified>
</cp:coreProperties>
</file>